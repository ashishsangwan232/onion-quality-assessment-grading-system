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D2E4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D2E46"/>
                </a:solidFill>
                <a:latin typeface="Calibri"/>
              </a:rPr>
              <a:t>Health verdict — 538 hand-labelled onions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 (%)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F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Old model (v3)</c:v>
                  </c:pt>
                  <c:pt idx="1">
                    <c:v>New model (v5)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88.5</c:v>
                </c:pt>
                <c:pt idx="1">
                  <c:v>98.3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1F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2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12700" cap="flat">
              <a:solidFill>
                <a:srgbClr val="EAE2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62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you photograph onions with a normal phone, and the system grades every onion in the photo — how much of its surface is damaged, whether it is sound, and its AGMARK band. 98.3% is balanced accuracy on 538 onions we labelled one by one, cross-validated by photograph.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difficulties. Humans do not agree with each other. The grade is an area, not a class. And a photograph carries no absolute scale — that is geometry, not a modelling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list our solutions here — that is two slides later. State the six gaps, then show them in the actual papers. The two that matter most in a viva are the first two: measurement instead of classification, and an evaluation protocol that cannot leak. Supporting literature: Geirhos on shortcut learning, Kapoor and Narayanan on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in the talk. P1 classifies an image. P2 builds the machine but not the measurement. P3 is the strongest — real factory validation on 2,236 onions — but it is still accept/reject, and it threw away 13.4% of good onions. Be fair if asked: P3 validated on a bigger, harder setting than we did, and their train-on-normal-onions-only idea is something we would like to adopt.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Six claims, each with a number. If an examiner pushes on the last one, say plainly: their 13.4% is measured on a live industrial line and our 0.9% on tray photographs, so the settings differ — but the false-rejection problem is real and it is exactly what our v5 retrain fixed, from 47 of 340 down to 3 of 340.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 that everything after segmentation is deterministic arithmetic — that is what makes the number checkable. The borderline state is measured, not invented: on familiar data it never fires.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CNN at all: we built the classical colour-threshold rule first and measured it — 83% against 93% for the CNN on the same onions. Why B0 and not ResNet-50 or ViT: accuracy per parameter, and it must run on a laptop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"how do I know your number is right". Show the three images: the crop, the measured boundary, and the pixels counted in red. The same array that produces the percentage paints the overlay, so the picture cannot disagree with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one thing from this slide: we rejected our own best-validating model because an honest test set said it was worse. That is the difference between a validation number and a generalisation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attach the test set to the number. 98.3% is balanced accuracy — the mean of rotten caught and sound passed — on 538 hand-labelled onions, cross-validated by photograph. The system agrees with a human grader better than a second human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point: the toe in the corner of this real photo used to be graded as a healthy onion. The gate now rejects it at 0.91 because it scores the box widened by 50% as well, so the model sees the foot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this: the limitations are measured and surfaced to the user, not discovered by the examiner. Next step is concrete — 126 onions already photographed, ready to label for v6.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00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Onion Quality Grading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2487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phone photograph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 ·  Onion gate  ·  Segmentation  ·  Per-onion measurement  ·  AGMARK grade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5A2439"/>
          </a:solidFill>
          <a:ln w="12700">
            <a:solidFill>
              <a:srgbClr val="7E3B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41148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4681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49560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 hand-labelled onions,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by photo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39776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5A2439"/>
          </a:solidFill>
          <a:ln w="12700">
            <a:solidFill>
              <a:srgbClr val="7E3B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41148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4681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recall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49560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 of 538 onions found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39776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5A2439"/>
          </a:solidFill>
          <a:ln w="12700">
            <a:solidFill>
              <a:srgbClr val="7E3B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41148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4681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 the pipeline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49560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trained by 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off the shelf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grading onions from a photograph is harder than it looks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1280160"/>
          </a:xfrm>
          <a:prstGeom prst="roundRect">
            <a:avLst>
              <a:gd name="adj" fmla="val 571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673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0116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human graders agreed with each other at only k = 0.701 on the same 120 onions. The same grader repeating herself: 0.852.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6858000" cy="1280160"/>
          </a:xfrm>
          <a:prstGeom prst="roundRect">
            <a:avLst>
              <a:gd name="adj" fmla="val 571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374136"/>
            <a:ext cx="502920" cy="50292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44752" y="3154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label — an area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349300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statutory grade is defined by the fraction of the surface that is damaged (one-fifth, one-half). A model that outputs "rotten" cannot produce that number.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71416"/>
            <a:ext cx="6858000" cy="1280160"/>
          </a:xfrm>
          <a:prstGeom prst="roundRect">
            <a:avLst>
              <a:gd name="adj" fmla="val 571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855464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46360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has no scale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9743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onion near the lens is pixel-identical to a large one far away. Millimetres cannot be recovered without a reference object.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26680" y="1508760"/>
            <a:ext cx="3886200" cy="4562856"/>
          </a:xfrm>
          <a:prstGeom prst="roundRect">
            <a:avLst>
              <a:gd name="adj" fmla="val 1882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5528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grade must contain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01000" y="2304288"/>
            <a:ext cx="182880" cy="18288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02752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Class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02752" y="2450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defect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2962656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02752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3108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1/5 of surface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01000" y="3621024"/>
            <a:ext cx="182880" cy="182880"/>
          </a:xfrm>
          <a:prstGeom prst="ellipse">
            <a:avLst/>
          </a:prstGeom>
          <a:solidFill>
            <a:srgbClr val="D07A2C"/>
          </a:solidFill>
          <a:ln w="12700">
            <a:solidFill>
              <a:srgbClr val="D07A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02752" y="3511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II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302752" y="3767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 to 1/2 of surface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01000" y="4279392"/>
            <a:ext cx="182880" cy="182880"/>
          </a:xfrm>
          <a:prstGeom prst="ellipse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02752" y="4169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minimum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302752" y="4425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1/2 of surface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001000" y="5029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firmness, dryness, smell — invisible in a photograph, so every output says "provisional".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literature stops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gaps that are common to published onion-grading work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1938528"/>
          </a:xfrm>
          <a:prstGeom prst="roundRect">
            <a:avLst>
              <a:gd name="adj" fmla="val 377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7007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is never measured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6771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output a class label. The statutory grade is defined by damaged SURFACE AREA, which a label cannot express.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61104" y="1481328"/>
            <a:ext cx="3566160" cy="1938528"/>
          </a:xfrm>
          <a:prstGeom prst="roundRect">
            <a:avLst>
              <a:gd name="adj" fmla="val 377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682496"/>
            <a:ext cx="457200" cy="457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7007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can leak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6771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80/20 splits on datasets whose images are repeated views of the same physical onion inflate the reported accuracy.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73568" y="1481328"/>
            <a:ext cx="3566160" cy="1938528"/>
          </a:xfrm>
          <a:prstGeom prst="roundRect">
            <a:avLst>
              <a:gd name="adj" fmla="val 377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1682496"/>
            <a:ext cx="457200" cy="457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93024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2" y="17007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assumed valid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226771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model must answer "healthy" or "unhealthy" for a hand, a potato or a face. No paper reports what happens on a wrong input.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66160" cy="1938528"/>
          </a:xfrm>
          <a:prstGeom prst="roundRect">
            <a:avLst>
              <a:gd name="adj" fmla="val 377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767328"/>
            <a:ext cx="457200" cy="457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37856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is only noted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4352544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on a new camera or a new line are reported in the discussion, never detected by the system while it runs.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61104" y="3566160"/>
            <a:ext cx="3566160" cy="1938528"/>
          </a:xfrm>
          <a:prstGeom prst="roundRect">
            <a:avLst>
              <a:gd name="adj" fmla="val 377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767328"/>
            <a:ext cx="457200" cy="457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47488" y="37856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Millimetres without a reference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352544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claimed from a single photograph, in which absolute scale simply is not present.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73568" y="3566160"/>
            <a:ext cx="3566160" cy="1938528"/>
          </a:xfrm>
          <a:prstGeom prst="roundRect">
            <a:avLst>
              <a:gd name="adj" fmla="val 377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93024" y="3767328"/>
            <a:ext cx="457200" cy="457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93024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59952" y="37856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go untested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93024" y="4352544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images on plain backgrounds let a network learn the background instead of the onion; nobody tests for it.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22960" y="57607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most recent onion-grading papers show all six of these concretely  —  next slide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recent work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newest onion-grading papers — strong results, and the gap each one leaves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27632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27632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6093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Jajur &amp; Siddamallappa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ICTACT IJIVP 16(3), 2026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860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vs MobileNetV2 / VGG16 / ResNet50. Whole image in, one label out: healthy or unhealthy.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3218688"/>
            <a:ext cx="3182112" cy="658368"/>
          </a:xfrm>
          <a:prstGeom prst="roundRect">
            <a:avLst>
              <a:gd name="adj" fmla="val 8333"/>
            </a:avLst>
          </a:prstGeom>
          <a:solidFill>
            <a:srgbClr val="EFE4E0"/>
          </a:solidFill>
          <a:ln w="12700">
            <a:solidFill>
              <a:srgbClr val="E4DA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273552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98.33%  own dataset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72.35%  on Onion-det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96849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open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224528"/>
            <a:ext cx="3182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per-onion output, no damaged area, 80/20 random split — and their own accuracy collapses on a second dataset.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1104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62272" y="1627632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62272" y="1627632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102352" y="16093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Suryawanshi et al.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ICONAT 2025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2860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Conveyor, 2 proximity sensors, PLC, 4-DOF robotic arm with vacuum gripper. YOLOv8 detects, CNN sorts Good / Bad.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62272" y="3218688"/>
            <a:ext cx="3182112" cy="658368"/>
          </a:xfrm>
          <a:prstGeom prst="roundRect">
            <a:avLst>
              <a:gd name="adj" fmla="val 8333"/>
            </a:avLst>
          </a:prstGeom>
          <a:solidFill>
            <a:srgbClr val="EFE4E0"/>
          </a:solidFill>
          <a:ln w="12700">
            <a:solidFill>
              <a:srgbClr val="E4DA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273552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85.5%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78.4% · recall 80.0%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396849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open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462272" y="4224528"/>
            <a:ext cx="3182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factory line. Claims size and shape but gives no scale or size result; 1 in 5 "bad" calls is wrong.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73568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74736" y="1627632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74736" y="1627632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14816" y="16093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Song, Buayai, Makino &amp; Mao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174736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Agricultural Technology 11, 2025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174736" y="22860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Student-teacher anomaly detection trained on normal onions only, plus an air-jet ejector on an industrial roller line.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74736" y="3218688"/>
            <a:ext cx="3182112" cy="658368"/>
          </a:xfrm>
          <a:prstGeom prst="roundRect">
            <a:avLst>
              <a:gd name="adj" fmla="val 8333"/>
            </a:avLst>
          </a:prstGeom>
          <a:solidFill>
            <a:srgbClr val="EFE4E0"/>
          </a:solidFill>
          <a:ln w="12700">
            <a:solidFill>
              <a:srgbClr val="E4DA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84464" y="3273552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97.02%  test set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86.37%  real line (2,236 onions)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174736" y="396849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open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174736" y="4224528"/>
            <a:ext cx="3182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only, no grade. On the live line it rejected 281 of 2,099 good onions — 13.4% of the crop.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22960" y="562356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answer "is this onion bad?"  None answers "how bad, over how much of the surface, and can I see why?"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solved that they did not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 for every gap on the previous two slides, with its measurement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64208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6824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statutory grade, not a label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31136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output the damaged surface fraction per onion and map it to the AGMARK bands (1/5, 1/2), plus size in mm from a coin. None of the three papers produces an area at all.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61104" y="1481328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664208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6824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with every number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31136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onion comes with three pictures: the crop, the boundary measured over, and the pixels counted as damage. Their evidence is a confusion matrix or a pass/fail table.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73568" y="1481328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1664208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9302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2" y="16824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heap, with no hardware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2231136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2-15 onions graded per hand-held phone photo, 1.3 s on a CPU. P2 and P3 need a conveyor, PLC and ejector; P1 needs one image per onion.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39312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822192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the input is an onion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4389120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Not-Onion class + context re-score + face detector + photo refusal: 0 objects graded across 50 non-onion images. None of the three papers tests what happens on a wrong input.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61104" y="3639312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822192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47488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when not to answer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389120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band 0.3-0.7: 0 of 538 in-domain onions, but 19 of 126 on a new phone. P1 drops 98.33% to 72.35% and P3 97.02% to 86.37% while still sounding confident.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73568" y="3639312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93024" y="3822192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93024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59952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throwing away good onions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93024" y="4389120"/>
            <a:ext cx="3163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wrongly rejects 3 of 340 sound onions (0.9%). P3, on its production line, rejected 281 of 2,099 (13.4%) — that loss is paid by the farmer.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870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these figures come from different test sets, so they are not a like-for-like accuracy race. What IS comparable is what each system outputs, what it does with a doubtful input, and how it was validated.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stages; only the first three use a neural network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29968" cy="2103120"/>
          </a:xfrm>
          <a:prstGeom prst="roundRect">
            <a:avLst>
              <a:gd name="adj" fmla="val 3604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8448" y="1783080"/>
            <a:ext cx="530352" cy="53035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98448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2491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YOLO26-m finds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boxes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310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0.25 · 960 px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15184" y="2542032"/>
            <a:ext cx="182880" cy="201168"/>
          </a:xfrm>
          <a:prstGeom prst="rightArrow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600200"/>
            <a:ext cx="2029968" cy="2103120"/>
          </a:xfrm>
          <a:prstGeom prst="roundRect">
            <a:avLst>
              <a:gd name="adj" fmla="val 3604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84448" y="1783080"/>
            <a:ext cx="530352" cy="53035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4448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272491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an onion?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3310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at p &gt;= 0.8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01184" y="2542032"/>
            <a:ext cx="182880" cy="201168"/>
          </a:xfrm>
          <a:prstGeom prst="rightArrow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600200"/>
            <a:ext cx="2029968" cy="2103120"/>
          </a:xfrm>
          <a:prstGeom prst="roundRect">
            <a:avLst>
              <a:gd name="adj" fmla="val 3604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70448" y="1783080"/>
            <a:ext cx="530352" cy="53035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70448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272491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MobileSAM makes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pixel mask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230368" y="3310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by the box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87184" y="2542032"/>
            <a:ext cx="182880" cy="201168"/>
          </a:xfrm>
          <a:prstGeom prst="rightArrow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1600200"/>
            <a:ext cx="2029968" cy="2103120"/>
          </a:xfrm>
          <a:prstGeom prst="roundRect">
            <a:avLst>
              <a:gd name="adj" fmla="val 360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6448" y="1783080"/>
            <a:ext cx="530352" cy="530352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56448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16368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516368" y="272491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+ dark pixels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mask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516368" y="3310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473184" y="2542032"/>
            <a:ext cx="182880" cy="201168"/>
          </a:xfrm>
          <a:prstGeom prst="rightArrow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2640" y="1600200"/>
            <a:ext cx="2029968" cy="2103120"/>
          </a:xfrm>
          <a:prstGeom prst="roundRect">
            <a:avLst>
              <a:gd name="adj" fmla="val 360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442448" y="1783080"/>
            <a:ext cx="530352" cy="530352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42448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802368" y="23957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802368" y="272491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 band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verdict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802368" y="3310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confidence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39776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777240" y="4133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opinions, reconciled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449884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comes from the CNN — 98.3% accurate on hand-labelled onions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comes from the measured area — the statutory definition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made consistent, so "HEALTHY + Below minimum" is impossible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disagree, the onion is flagged "check by eye" instead of hidden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3977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537960" y="4133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outcomes, not two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583680" y="4590288"/>
            <a:ext cx="182880" cy="18288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76288" y="4498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503920" y="4498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p(unhealthy) &lt; 0.3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583680" y="4992624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76288" y="4901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503920" y="49011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0.7  ·  check by hand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583680" y="5394960"/>
            <a:ext cx="182880" cy="182880"/>
          </a:xfrm>
          <a:prstGeom prst="ellipse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76288" y="5303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503920" y="5303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p(unhealthy) &gt;= 0.7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658368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familiar photos 0 of 538 onions landed in the borderline band; on a new camera, 19 of 126 did.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used, and why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trained by us, two used as they ship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YOLO26-m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166420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0" y="1664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by us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21.77 M params · 1 class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30428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Ultralytics generation: NMS-free end-to-end head, DFL removed, STAL improves label coverage for small objects — a tray photo is many small objects.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481328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EfficientNet-B0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75520" y="166420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0" y="1664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by us (v5)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1993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4.01 M params · 3 classes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30428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per parameter in its class. One forward pass answers both "is this an onion?" and "is it sound?". Runs on CPU inside the app.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" y="3931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MobileSAM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114800" y="395020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3950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shipped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79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10.14 M params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59028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Class-agnostic, prompted with the detector box. Gives an exact boundary with ZERO segmentation annotation — a U-Net would need thousands of hand-drawn masks.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767328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65392" y="3931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YuNet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75520" y="395020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0" y="3950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shelf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565392" y="4279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~0.08 M params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65392" y="459028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once scored a vendor’s face only 12% "not onion". A detector built for faces scores them 0.88–0.92.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~36 M parameters, ~100 MB of weights. No cloud API, no per-image cost: 1.3 s per photograph on a 16-core CPU, 4.7 s on 2 cores.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grade is measured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comes with a picture of the pixels it was computed over</a:t>
            </a:r>
            <a:endParaRPr lang="en-US" sz="1350" dirty="0"/>
          </a:p>
        </p:txBody>
      </p:sp>
      <p:pic>
        <p:nvPicPr>
          <p:cNvPr id="4" name="Image 0" descr="fig_peron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6766560" cy="2203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03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photographed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2807208" y="3803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it measured over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65776" y="3803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pixels counted as damage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4224528"/>
            <a:ext cx="6766560" cy="1828800"/>
          </a:xfrm>
          <a:prstGeom prst="roundRect">
            <a:avLst>
              <a:gd name="adj" fmla="val 4000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43891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pixels  ÷  onion pixels  →  isotonic map  →  AGMARK band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73168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pixel is damage if it is dull AND dark AND inside the mask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denominator is the onion’s own pixels, never the box — so background and neighbouring onions cannot enter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27-point monotone map converts "what the rule flagged" into "what a person would call damaged"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89520" y="1572768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818120" y="1755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212140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outline is wrong, you can see it.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red pixels are shadow rather than rot, you can see that too.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 is auditable, not a black-box claim — which is exactly what a grading standard needs.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3931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reported per onion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4279392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— distance to the nearest grade 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— a different KIND of damage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in mm + AGMARK code, with a coin in frame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size and rank — always exact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Training, and honest evaluation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matters more than the architecture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classifier was trained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from ImageNet, head → 3 classes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3e-4, OneCycleLR, label smoothing 0.1, batch 64, AMP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sampling per class AND per photo type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swapped 50% of the time — kills the "soil = rotten" shortcut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sources at once; free Kaggle GPU, ~1 hour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6733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tested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029968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 onions labelled one by one, from a different camera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SESSION, then 5-fold cross-validation by PHOTOGRAPH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 nested — on the other folds 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model scored on exactly the same crops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would have inflated every number we report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13632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BF6F4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096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caught our own mistake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62272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v4 reached 99.6% validation F1 and 100% on its own held-out split — and we threw it away, because on the independent hand-labelled set it scored 81.1%, worse than the model it was meant to replace. v5 trains on all three sources at once and scores 98.3% cross-validated.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1000" y="4224528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EFE4E0"/>
          </a:solidFill>
          <a:ln w="12700">
            <a:solidFill>
              <a:srgbClr val="E4DA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4526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6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86.1%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4983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old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08008" y="4224528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EFE4E0"/>
          </a:solidFill>
          <a:ln w="12700">
            <a:solidFill>
              <a:srgbClr val="E4DA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08008" y="4526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6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81.1%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208008" y="4983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rejected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415016" y="4224528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15016" y="4526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98.3%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415016" y="4983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shipped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measured on onions the model never trained on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55448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537960" y="1719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084832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 caught: 180 → 193 of 198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wrongly rejected: 47 → 3 of 340 — the old model was costing farmers good onions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dataset (VegQual, held out): 97.2% → 98.8%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Non-onion objects graded, 50 test images: 11 → 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4370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0.819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846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a human grader (quadratic k)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468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humans agree at 0.701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64992" y="42062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547872" y="4370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547872" y="4846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recall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547872" y="5468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 of 538 onions found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81344" y="42062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364224" y="4370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s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364224" y="4846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photograph, CPU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364224" y="5468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997696" y="42062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180576" y="4370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538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180576" y="4846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cases in domain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180576" y="5468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of 126 on a new camera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in use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dashboard, and a live camera mode</a:t>
            </a:r>
            <a:endParaRPr lang="en-US" sz="1350" dirty="0"/>
          </a:p>
        </p:txBody>
      </p:sp>
      <p:pic>
        <p:nvPicPr>
          <p:cNvPr id="4" name="Image 0" descr="fig_annota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3758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37667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photograph, graded end to end: 11 onions; a ₹1 coin gives 4.25 px/mm; "#7 CHECK" is a borderline onion — and the toe at the top right is greyed out, rejected by the gate at p(not onion) = 0.91.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772400" y="1554480"/>
            <a:ext cx="3840480" cy="2148840"/>
          </a:xfrm>
          <a:prstGeom prst="roundRect">
            <a:avLst>
              <a:gd name="adj" fmla="val 3404"/>
            </a:avLst>
          </a:prstGeom>
          <a:solidFill>
            <a:srgbClr val="F3E9E6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01000" y="17190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mode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066544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annotated result, JSON export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 Unhealthy / Borderline tabs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Per-onion view: crop, boundary, damage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when the photo is out of domain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3913632"/>
            <a:ext cx="3840480" cy="2148840"/>
          </a:xfrm>
          <a:prstGeom prst="roundRect">
            <a:avLst>
              <a:gd name="adj" fmla="val 3404"/>
            </a:avLst>
          </a:prstGeom>
          <a:solidFill>
            <a:srgbClr val="F7F3F1"/>
          </a:solidFill>
          <a:ln w="12700">
            <a:solidFill>
              <a:srgbClr val="E4DAD6"/>
            </a:solidFill>
            <a:prstDash val="solid"/>
          </a:ln>
          <a:effectLst>
            <a:outerShdw sx="100000" sy="100000" kx="0" ky="0" algn="bl" rotWithShape="0" blurRad="101600" dist="25400" dir="5400000">
              <a:srgbClr val="BFAFA9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01000" y="40782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mode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425696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loops: ByteTrack every frame, full grade every few seconds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onion keeps a stable id, so a grade follows the right onion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webcam, phone over IP, or a video file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and what comes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openly — every one of these is measured, not guessed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5A2439"/>
          </a:solidFill>
          <a:ln w="12700">
            <a:solidFill>
              <a:srgbClr val="7E3B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piles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3911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tightly packed heap the detector finds about 17 of 20 onions — a training-data problem, fixed by adding pile photographs.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5A2439"/>
          </a:solidFill>
          <a:ln w="12700">
            <a:solidFill>
              <a:srgbClr val="7E3B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07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cultivars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6324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pixel rule reads dark skin as damage (+0.54 correlation). The CNN verdict is unaffected; the band can be harsh.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739896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5A2439"/>
          </a:solidFill>
          <a:ln w="12700">
            <a:solidFill>
              <a:srgbClr val="7E3B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31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 unvalidated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8736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accuracy figure comes from still photographs. Motion blur is in none of them.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764024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5A2439"/>
          </a:solidFill>
          <a:ln w="12700">
            <a:solidFill>
              <a:srgbClr val="7E3B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855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attributes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1149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Firmness, dryness and smell are part of the legal grade and cannot be seen in a photograph.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46520" y="2121408"/>
            <a:ext cx="384048" cy="384048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20848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126 onions just photographed and retrain as v6 — most borderline cases should become confident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2779776"/>
            <a:ext cx="384048" cy="384048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detector on dense piles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3438144"/>
            <a:ext cx="384048" cy="384048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3401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voting in live mode: average one onion’s score across frames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46520" y="4096512"/>
            <a:ext cx="384048" cy="384048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67728" y="40599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+ ONNX export, then a FastAPI service for a mandi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4754880"/>
            <a:ext cx="384048" cy="384048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67728" y="47183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On-phone deployment, so no laptop is needed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87044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8704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instrument, not a black box: it shows what it measured, refuses what it cannot grade, and says when it is unsure.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Onion Quality Grading from a Photograph</dc:title>
  <dc:subject>PptxGenJS Presentation</dc:subject>
  <dc:creator>Ashi</dc:creator>
  <cp:lastModifiedBy>Ashi</cp:lastModifiedBy>
  <cp:revision>1</cp:revision>
  <dcterms:created xsi:type="dcterms:W3CDTF">2026-09-23T12:00:03Z</dcterms:created>
  <dcterms:modified xsi:type="dcterms:W3CDTF">2026-09-23T12:00:03Z</dcterms:modified>
</cp:coreProperties>
</file>